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ediction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3611879" y="6245352"/>
            <a:ext cx="4974336" cy="365760"/>
          </a:xfrm>
          <a:prstGeom prst="roundRect">
            <a:avLst>
              <a:gd name="adj" fmla="val 50000"/>
            </a:avLst>
          </a:prstGeom>
          <a:solidFill>
            <a:srgbClr val="0B1220">
              <a:alpha val="9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0B1220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992727" y="1389888"/>
            <a:ext cx="4206240" cy="384048"/>
          </a:xfrm>
          <a:prstGeom prst="roundRect">
            <a:avLst>
              <a:gd name="adj" fmla="val 50000"/>
            </a:avLst>
          </a:prstGeom>
          <a:solidFill>
            <a:srgbClr val="111C2E">
              <a:alpha val="70000"/>
            </a:srgbClr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92727" y="1463040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 spc="140">
                <a:solidFill>
                  <a:srgbClr val="F2F7FD"/>
                </a:solidFill>
                <a:latin typeface="JetBrains Mono"/>
              </a:rPr>
              <a:t>ПРОГНОЗНЫЙ ДВИЖОК · OSMOSY VECTOR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7048" y="1847088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000" b="1" i="0">
                <a:solidFill>
                  <a:srgbClr val="38B2F8"/>
                </a:solidFill>
                <a:latin typeface="Inter Display"/>
              </a:rPr>
              <a:t>Vector Prediction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41448" y="2999232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50" b="0" i="0">
                <a:solidFill>
                  <a:srgbClr val="F2F7FD"/>
                </a:solidFill>
                <a:latin typeface="Inter"/>
              </a:rPr>
              <a:t>Гибридный пайплайн TimesFM: прод-прогноз на 2.5, исследования на 3.0 — спрос, продажи, трафик кампаний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729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729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8B2F8"/>
                </a:solidFill>
                <a:latin typeface="Inter Display"/>
              </a:rPr>
              <a:t>2.5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729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8FA3BC"/>
                </a:solidFill>
                <a:latin typeface="JetBrains Mono"/>
              </a:rPr>
              <a:t>прод · Apache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03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03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8B2F8"/>
                </a:solidFill>
                <a:latin typeface="Inter Display"/>
              </a:rPr>
              <a:t>3.0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303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8FA3BC"/>
                </a:solidFill>
                <a:latin typeface="JetBrains Mono"/>
              </a:rPr>
              <a:t>research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877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877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8B2F8"/>
                </a:solidFill>
                <a:latin typeface="Inter Display"/>
              </a:rPr>
              <a:t>~6x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877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8FA3BC"/>
                </a:solidFill>
                <a:latin typeface="JetBrains Mono"/>
              </a:rPr>
              <a:t>быстрее ковариаты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53128" y="5138928"/>
            <a:ext cx="3291840" cy="475488"/>
          </a:xfrm>
          <a:prstGeom prst="roundRect">
            <a:avLst>
              <a:gd name="adj" fmla="val 50000"/>
            </a:avLst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53128" y="524865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JetBrains Mono"/>
              </a:rPr>
              <a:t>github.com/Osmosy/vector-prediction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13048" y="630936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FA3BC"/>
                </a:solidFill>
                <a:latin typeface="JetBrains Mono"/>
              </a:rPr>
              <a:t>Osmosy · Hermes Agent · 2026</a:t>
            </a:r>
          </a:p>
        </p:txBody>
      </p:sp>
      <p:pic>
        <p:nvPicPr>
          <p:cNvPr id="22" name="Picture 21" descr="vector_ray_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274320"/>
            <a:ext cx="822960" cy="58240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Что такое Vector Prediction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002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8FA3BC"/>
                </a:solidFill>
                <a:latin typeface="Inter"/>
              </a:rPr>
              <a:t>Zero-shot прогнозирование спроса, продаж и трафика кампаний без обучения под задачу — локально на CPU. Два контура, разделённые по лицензии.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331720"/>
            <a:ext cx="3611880" cy="3108960"/>
          </a:xfrm>
          <a:prstGeom prst="roundRect">
            <a:avLst>
              <a:gd name="adj" fmla="val 2647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51176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Контур A — ПРОД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35224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TimesFM 2.5 · Apache-2.0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9582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Боевые прогнозы: планы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45643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производства и закупки,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71703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KPI кампаний, отчёты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07408" y="2331720"/>
            <a:ext cx="3611880" cy="3108960"/>
          </a:xfrm>
          <a:prstGeom prst="roundRect">
            <a:avLst>
              <a:gd name="adj" fmla="val 2647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2551176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Контур B —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935224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TimesFM 3.0 · non-commercial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19582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Только сравнение моделей: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45643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MAE, скорость, ковариаты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371703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Не попадает в решения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47888" y="2331720"/>
            <a:ext cx="3611880" cy="3108960"/>
          </a:xfrm>
          <a:prstGeom prst="roundRect">
            <a:avLst>
              <a:gd name="adj" fmla="val 2647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19" y="2551176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Роли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9" y="2935224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Люди: данные и решения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319582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Агенты: сборка, прогноз,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345643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ревью качества и лицензии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2 / 13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Prediction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02 · ЗАЧЕМ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Прогноз, которого обычно нет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3611880" cy="2514600"/>
          </a:xfrm>
          <a:prstGeom prst="roundRect">
            <a:avLst>
              <a:gd name="adj" fmla="val 3272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«Как в прошлый раз»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План по интуиции и прошлому опыту.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Акции и праздники — сюрприз: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то дефицит, то перепроизводство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8" y="1965960"/>
            <a:ext cx="3611880" cy="2514600"/>
          </a:xfrm>
          <a:prstGeom prst="roundRect">
            <a:avLst>
              <a:gd name="adj" fmla="val 3272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Excel вручную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Часы на сводные таблицы,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средние за месяц — не прогноз.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Сезон не учитывается совсем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47888" y="1965960"/>
            <a:ext cx="3611880" cy="2514600"/>
          </a:xfrm>
          <a:prstGeom prst="roundRect">
            <a:avLst>
              <a:gd name="adj" fmla="val 3272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19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Облачные прогнозы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19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Данные продаж уходят наружу,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подписка за каждый прогон,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чёрный ящик без интервалов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846319"/>
            <a:ext cx="11064240" cy="1572768"/>
          </a:xfrm>
          <a:prstGeom prst="roundRect">
            <a:avLst>
              <a:gd name="adj" fmla="val 5232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4846319"/>
            <a:ext cx="45720" cy="157276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5065775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Цена ошибки в мясопродуктах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" y="546811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Скоропорт: перепроизводство — прямые списания, недопроизводство — упущенная выручка и пустая полка.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" y="574243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F7FD"/>
                </a:solidFill>
                <a:latin typeface="Inter"/>
              </a:rPr>
              <a:t>Шашлычный сезон, Пасха, Новый год — пики, которые нельзя «усреднить»: без сезонной истории модель слепа.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601675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Промо-дни дают +20–40% к продажам — план без календаря акций систематически ошибается именно в эти дни.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3 / 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Prediction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03 · РЕШЕНИЕ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Foundation model вместо ручных таблиц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3611880" cy="2514600"/>
          </a:xfrm>
          <a:prstGeom prst="roundRect">
            <a:avLst>
              <a:gd name="adj" fmla="val 3272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Zero-shot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Без обучения под задачу: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загрузили историю — получили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прогноз. 200M параметров,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претрейн на млрд точек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07408" y="1965960"/>
            <a:ext cx="3611880" cy="2514600"/>
          </a:xfrm>
          <a:prstGeom prst="roundRect">
            <a:avLst>
              <a:gd name="adj" fmla="val 3272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Интервалы, не числа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Каждый день: cautious 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forecast / optimistic 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скоропорт и заморозка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планируются по-разному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47888" y="1965960"/>
            <a:ext cx="3611880" cy="2514600"/>
          </a:xfrm>
          <a:prstGeom prst="roundRect">
            <a:avLst>
              <a:gd name="adj" fmla="val 3272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19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Локально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Веса на своём железе: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9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данные продаж не покидают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контур. CPU 20 ядер,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RAM ~1.5 ГБ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846319"/>
            <a:ext cx="11064240" cy="1572768"/>
          </a:xfrm>
          <a:prstGeom prst="roundRect">
            <a:avLst>
              <a:gd name="adj" fmla="val 5232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4846319"/>
            <a:ext cx="45720" cy="157276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065775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Главный эффект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46811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F7FD"/>
                </a:solidFill>
                <a:latin typeface="Inter"/>
              </a:rPr>
              <a:t>Модель «видит» будущую акцию: календарь промо подаётся как past-future ковариат — рост заложен заранее.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74243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Кросс-связи рядов: промо в сосисках видно и в прогнозе ветчины (мультивариантность 3.0; в 2.5 — через XReg).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" y="601675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Аномалии в истории ловятся квантилями: факт вне 80% интервала = WARNING/CRITICAL сигнал.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4 / 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Prediction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04 · ДАННЫЕ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Что подготовить: три уровня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3611880" cy="2514600"/>
          </a:xfrm>
          <a:prstGeom prst="roundRect">
            <a:avLst>
              <a:gd name="adj" fmla="val 3272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Обязательно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История продаж по дням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Минимум 4 месяца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Норма: 1 год, идеально: 2 года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Один продукт = один столбец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07408" y="1965960"/>
            <a:ext cx="3611880" cy="2514600"/>
          </a:xfrm>
          <a:prstGeom prst="roundRect">
            <a:avLst>
              <a:gd name="adj" fmla="val 3272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Повышает точность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Календарь акций: прошлое + план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Праздники (календарь известен)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Цены по дням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Посещаемость (только прошлое)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47888" y="1965960"/>
            <a:ext cx="3611880" cy="2514600"/>
          </a:xfrm>
          <a:prstGeom prst="roundRect">
            <a:avLst>
              <a:gd name="adj" fmla="val 3272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19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Бонусы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Прогноз погоды на будущее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9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Маркетинговые активности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Производственные ограничения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46319"/>
            <a:ext cx="11064240" cy="1572768"/>
          </a:xfrm>
          <a:prstGeom prst="roundRect">
            <a:avLst>
              <a:gd name="adj" fmla="val 5232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846319"/>
            <a:ext cx="45720" cy="157276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5065775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Правило будущего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46811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Будущее передаётся только для заранее известных фактов: акции, праздники, цены по прайсу.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74243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F7FD"/>
                </a:solidFill>
                <a:latin typeface="Inter"/>
              </a:rPr>
              <a:t>Выдуманные будущие числа портят прогноз. Нет плана промо — столбец заполняется нулями, модель честно их не знает.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601675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Формат: CSV/Excel, одна строка = один день, числа с точкой, без строк «итого». Полный чек-лист: docs/data-guide.md.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5 / 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Prediction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05 · КТО ЧТО ДЕЛАЕТ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Люди решают — агенты считают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70048" cy="1828800"/>
          </a:xfrm>
          <a:prstGeom prst="roundRect">
            <a:avLst>
              <a:gd name="adj" fmla="val 450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Данные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Продажи: история.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Маркетолог: план промо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1920240"/>
            <a:ext cx="2670048" cy="1828800"/>
          </a:xfrm>
          <a:prstGeom prst="roundRect">
            <a:avLst>
              <a:gd name="adj" fmla="val 450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Сборка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Агент-сборщик: чек-лист,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склейка CSV, preflight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2670048" cy="1828800"/>
          </a:xfrm>
          <a:prstGeom prst="roundRect">
            <a:avLst>
              <a:gd name="adj" fmla="val 450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Прогноз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Контур A: интервалы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60/80%, аномалии, holdout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920240"/>
            <a:ext cx="2670048" cy="1828800"/>
          </a:xfrm>
          <a:prstGeom prst="roundRect">
            <a:avLst>
              <a:gd name="adj" fmla="val 450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Решение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Ревьюер допускает 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директор планирует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846319"/>
            <a:ext cx="10671048" cy="1572768"/>
          </a:xfrm>
          <a:prstGeom prst="roundRect">
            <a:avLst>
              <a:gd name="adj" fmla="val 5232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846319"/>
            <a:ext cx="45720" cy="157276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5065775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Разделение ответственности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46811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Люди: полнота и правдивость данных, план акций, финальное решение по производству.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7424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F7FD"/>
                </a:solidFill>
                <a:latin typeface="Inter"/>
              </a:rPr>
              <a:t>Агенты: формат и склейка, запуск модели, ревью качества и лицензии. Агент не передаёт сырые цифры — сначала holdout-метрики.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60167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Каденция: история раз в неделю, прогноз еженедельно, сравнение моделей и проверка лицензии 3.0 — раз в месяц.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6 / 13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Prediction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06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Двухконтурная схема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2011680"/>
            <a:ext cx="11064240" cy="1024128"/>
          </a:xfrm>
          <a:prstGeom prst="roundRect">
            <a:avLst>
              <a:gd name="adj" fmla="val 8035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011680"/>
            <a:ext cx="45720" cy="102412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23113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Контур A · ПРОД — TimesFM 2.5, Apache-2.0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63347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campaign_forecast.py: точечный прогноз + 60/80% интервалы, XReg-ковариаты (промо, праздники, цены), аномалии, holdout-метрики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00400"/>
            <a:ext cx="11064240" cy="1024128"/>
          </a:xfrm>
          <a:prstGeom prst="roundRect">
            <a:avLst>
              <a:gd name="adj" fmla="val 8035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3200400"/>
            <a:ext cx="45720" cy="102412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34198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Контур B · RESEARCH — TimesFM 3.0, non-commercial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382219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research_bench.py: нативная мультисерийность, past-future ковариаты за один проход (~6x быстрее), 9 квантилей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389120"/>
            <a:ext cx="11064240" cy="1197864"/>
          </a:xfrm>
          <a:prstGeom prst="roundRect">
            <a:avLst>
              <a:gd name="adj" fmla="val 6870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4389120"/>
            <a:ext cx="45720" cy="1197864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460857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Лицензионная граница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" y="5010912"/>
            <a:ext cx="10424160" cy="44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Прогноз 3.0 не попадает в производственные решения — только внутреннее сравнение моделей. Пути к коммерческому 3.0: Apache-релиз, BigQuery AI.FORECAST, прямая лицензия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7 / 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Prediction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07 · ЛИЦЕНЗИЯ TIMESFM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Non-commercial: что можно и нельзя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Разрешено — 3.0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Бенчмарк против 2.5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Внутренние отчёты о моделях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Outputs не являются Derivative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Исследования и оценка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07408" y="196596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Запрещено — 3.0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План производства по цифрам 3.0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Продажа прогноза как услуги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Дистилляция в коммерческую модель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Дистрибуция весов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47888" y="196596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19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Коммерческий путь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2.5 — Apache-2.0 (уже прод)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9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BigQuery AI.FORECAST —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Прямая лицензия у Google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Мониторинг: раз в месяц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5120640"/>
            <a:ext cx="11064240" cy="1298448"/>
          </a:xfrm>
          <a:prstGeom prst="roundRect">
            <a:avLst>
              <a:gd name="adj" fmla="val 6338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5120640"/>
            <a:ext cx="45720" cy="12984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34009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Грань, которую держим в коде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74243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research_bench.py — отдельный вход, не импортируется прод-пайплайном, предупреждение при каждом запуске.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601675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F7FD"/>
                </a:solidFill>
                <a:latin typeface="Inter"/>
              </a:rPr>
              <a:t>Грань: цифра 3.0 попала в производственный план = нарушение. Сравнение 3.0 vs 2.5 во внутреннем отчёте = можно.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8 / 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Prediction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08 · БЕНЧМАРК 2.5 VS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Точность и скорость на живом прогоне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9235440" cy="384048"/>
          </a:xfrm>
          <a:prstGeom prst="roundRect">
            <a:avLst>
              <a:gd name="adj" fmla="val 21428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965960"/>
            <a:ext cx="33832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Метрика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61103" y="196596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2.5 база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78423" y="196596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2.5 XReg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95743" y="196596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3.0 база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13064" y="196596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3.0 ковар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313432"/>
            <a:ext cx="9235440" cy="475488"/>
          </a:xfrm>
          <a:prstGeom prst="roundRect">
            <a:avLst>
              <a:gd name="adj" fmla="val 17307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2414015"/>
            <a:ext cx="33832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Inter"/>
              </a:rPr>
              <a:t>MAE, clicks (контекст 106, горизонт 14)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1103" y="2414015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33.75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78423" y="2414015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31.42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95743" y="2414015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67.77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13064" y="2414015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40.55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843784"/>
            <a:ext cx="9235440" cy="475488"/>
          </a:xfrm>
          <a:prstGeom prst="roundRect">
            <a:avLst>
              <a:gd name="adj" fmla="val 17307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2944368"/>
            <a:ext cx="33832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Inter"/>
              </a:rPr>
              <a:t>Время прогноза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61103" y="2944368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0.17 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78423" y="2944368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1.30 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95743" y="2944368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0.20 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13064" y="2944368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0.22 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374136"/>
            <a:ext cx="9235440" cy="475488"/>
          </a:xfrm>
          <a:prstGeom prst="roundRect">
            <a:avLst>
              <a:gd name="adj" fmla="val 17307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" y="3474720"/>
            <a:ext cx="33832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Inter"/>
              </a:rPr>
              <a:t>Ковариат промо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61103" y="34747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78423" y="34747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XReg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95743" y="34747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13064" y="34747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нативный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3904487"/>
            <a:ext cx="9235440" cy="475488"/>
          </a:xfrm>
          <a:prstGeom prst="roundRect">
            <a:avLst>
              <a:gd name="adj" fmla="val 17307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" y="4005072"/>
            <a:ext cx="33832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Inter"/>
              </a:rPr>
              <a:t>Лицензия весов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61103" y="4005072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Apache-2.0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78423" y="4005072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Apache-2.0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95743" y="4005072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non-comm.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13064" y="4005072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non-comm.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846319"/>
            <a:ext cx="11064240" cy="1572768"/>
          </a:xfrm>
          <a:prstGeom prst="roundRect">
            <a:avLst>
              <a:gd name="adj" fmla="val 5232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4846319"/>
            <a:ext cx="45720" cy="157276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9536" y="5065775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Как читать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9536" y="546811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F7FD"/>
                </a:solidFill>
                <a:latin typeface="Inter"/>
              </a:rPr>
              <a:t>Вывод: на ряде из репо точнее 2.5 + XReg (MAE 31.42 против 40.55 у 3.0 с ковариатом); 3.0 быстрее в ковариатном прогнозе (~6x).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9536" y="574243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Прод-выбор 2.5 оправдан и лицензией, и точностью; 3.0 — быстрый тест-прогон перед боевым расчётом на 2.5.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9536" y="601675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Повторить: research_bench.py --input data/sample/history.csv --value-col clicks (27.09.2026, Ryzen AI 9 H 365, 20 CPU).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9 / 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Prediction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09 · РЕЗУЛЬТАТ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Что получает директор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8686800" cy="384048"/>
          </a:xfrm>
          <a:prstGeom prst="roundRect">
            <a:avLst>
              <a:gd name="adj" fmla="val 21428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9659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Дата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06624" y="196596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Forecast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196596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Cautious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81344" y="196596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Optimistic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18704" y="196596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Промо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313432"/>
            <a:ext cx="8686800" cy="420624"/>
          </a:xfrm>
          <a:prstGeom prst="roundRect">
            <a:avLst>
              <a:gd name="adj" fmla="val 19565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2414015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Inter"/>
              </a:rPr>
              <a:t>2026-09-05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06624" y="2414015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196.8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3984" y="2414015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184.2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1344" y="2414015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209.5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18704" y="2414015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акция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788920"/>
            <a:ext cx="8686800" cy="420624"/>
          </a:xfrm>
          <a:prstGeom prst="roundRect">
            <a:avLst>
              <a:gd name="adj" fmla="val 19565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2889503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Inter"/>
              </a:rPr>
              <a:t>2026-09-06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06624" y="2889503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204.1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43984" y="2889503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191.0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81344" y="2889503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217.3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18704" y="2889503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акция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264408"/>
            <a:ext cx="8686800" cy="420624"/>
          </a:xfrm>
          <a:prstGeom prst="roundRect">
            <a:avLst>
              <a:gd name="adj" fmla="val 19565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" y="3364991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Inter"/>
              </a:rPr>
              <a:t>2026-09-07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06624" y="3364991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172.5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43984" y="3364991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160.8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81344" y="3364991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184.1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18704" y="3364991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—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3739896"/>
            <a:ext cx="8686800" cy="420624"/>
          </a:xfrm>
          <a:prstGeom prst="roundRect">
            <a:avLst>
              <a:gd name="adj" fmla="val 19565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" y="38404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Inter"/>
              </a:rPr>
              <a:t>2026-09-08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6624" y="384048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141.2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43984" y="384048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129.6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81344" y="384048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152.7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18704" y="384048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—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498848"/>
            <a:ext cx="11064240" cy="1920240"/>
          </a:xfrm>
          <a:prstGeom prst="roundRect">
            <a:avLst>
              <a:gd name="adj" fmla="val 4285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4498848"/>
            <a:ext cx="45720" cy="19202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9536" y="471830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Как читать и что делать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9536" y="5120640"/>
            <a:ext cx="10424160" cy="44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F7FD"/>
                </a:solidFill>
                <a:latin typeface="Inter"/>
              </a:rPr>
              <a:t>forecast — план производства/закупки по умолчанию. cautious (10-й перцентиль) — нижняя граница: скоропорт ближе к ней. optimistic (90-й) — запас для заморозки и долгих сроков.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9536" y="5568696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В промо-дни (5–6 сентября) модель подняла прогноз заранее — календарь акций из плана сработал.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9536" y="5843016"/>
            <a:ext cx="10424160" cy="44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Метрики на holdout: MAE/RMSE/MAPE + покрытие 80% интервала (цель ~80%). MAPE &gt; 15% — сигнал усилить данные: длиннее история, добавить ковариаты.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10 / 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Prediction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10 · КАДЕНЦИЯ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Ритм работы прогнозного контура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11064240" cy="384048"/>
          </a:xfrm>
          <a:prstGeom prst="roundRect">
            <a:avLst>
              <a:gd name="adj" fmla="val 21428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9659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Цикл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06624" y="1965960"/>
            <a:ext cx="4937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Что происходит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27264" y="196596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Кто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313432"/>
            <a:ext cx="11064240" cy="512064"/>
          </a:xfrm>
          <a:prstGeom prst="roundRect">
            <a:avLst>
              <a:gd name="adj" fmla="val 16071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2414015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Inter"/>
              </a:rPr>
              <a:t>Еженедельно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6624" y="2414015"/>
            <a:ext cx="4937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Выгрузка истории за прошедшую неделю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27264" y="2414015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Продажи → агент-сборщик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880360"/>
            <a:ext cx="11064240" cy="512064"/>
          </a:xfrm>
          <a:prstGeom prst="roundRect">
            <a:avLst>
              <a:gd name="adj" fmla="val 16071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298094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Inter"/>
              </a:rPr>
              <a:t>Еженедельно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06624" y="2980944"/>
            <a:ext cx="4937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Прогноз на 2 недели вперёд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27264" y="2980944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Агент-прогнозист (контур A)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447288"/>
            <a:ext cx="11064240" cy="512064"/>
          </a:xfrm>
          <a:prstGeom prst="roundRect">
            <a:avLst>
              <a:gd name="adj" fmla="val 16071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35478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Inter"/>
              </a:rPr>
              <a:t>Раз в месяц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06624" y="3547872"/>
            <a:ext cx="4937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Сравнение 2.5 vs 3.0 на свежих данных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27264" y="3547872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Агент-исследователь (контур B)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014216"/>
            <a:ext cx="11064240" cy="512064"/>
          </a:xfrm>
          <a:prstGeom prst="roundRect">
            <a:avLst>
              <a:gd name="adj" fmla="val 16071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4944" y="4114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Inter"/>
              </a:rPr>
              <a:t>Раз в месяц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06624" y="4114800"/>
            <a:ext cx="4937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Проверка: Apache-релиз 3.0? BigQuery?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27264" y="411480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Агент-исследователь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4581144"/>
            <a:ext cx="11064240" cy="512064"/>
          </a:xfrm>
          <a:prstGeom prst="roundRect">
            <a:avLst>
              <a:gd name="adj" fmla="val 16071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" y="468172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Inter"/>
              </a:rPr>
              <a:t>По событию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06624" y="4681728"/>
            <a:ext cx="4937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Внеплановый прогноз под акцию/запуск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27264" y="4681728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По заявке директора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394959"/>
            <a:ext cx="11064240" cy="1024128"/>
          </a:xfrm>
          <a:prstGeom prst="roundRect">
            <a:avLst>
              <a:gd name="adj" fmla="val 8035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5394959"/>
            <a:ext cx="45720" cy="102412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561441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Правило контура 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" y="601675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research_bench.py не встраивается в прод-пайплайн: отдельный вход, отдельный выход.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11 / 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Prediction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11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11064240" cy="1298448"/>
          </a:xfrm>
          <a:prstGeom prst="roundRect">
            <a:avLst>
              <a:gd name="adj" fmla="val 6338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874519"/>
            <a:ext cx="45720" cy="12984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09397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Ближайшее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49631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Прогноз на реальных данных мясопродуктов (календарь акций + праздники + цены)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77063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Подключение 1С-выгрузки к формату history.csv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337560"/>
            <a:ext cx="11064240" cy="1298448"/>
          </a:xfrm>
          <a:prstGeom prst="roundRect">
            <a:avLst>
              <a:gd name="adj" fmla="val 6338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3337560"/>
            <a:ext cx="45720" cy="12984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557015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Средний горизонт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395935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BigQuery AI.FORECAST, когда 3.0 появится — облачный контур для масштаба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423367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Мультивариантный режим 3.0 в прод-пайплайне после Apache-релиза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800600"/>
            <a:ext cx="11064240" cy="1298448"/>
          </a:xfrm>
          <a:prstGeom prst="roundRect">
            <a:avLst>
              <a:gd name="adj" fmla="val 6338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4800600"/>
            <a:ext cx="45720" cy="12984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50200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Экосистема Vector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" y="542239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Связка с vector-work (роли) и vector-marketing (кампании)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" y="569671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Единый прогнозный слой для всех продуктов Osmosy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12 / 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Prediction · Hermes Agent · Osmosy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27048" y="1828800"/>
            <a:ext cx="9144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800" b="1" i="0">
                <a:solidFill>
                  <a:srgbClr val="38B2F8"/>
                </a:solidFill>
                <a:latin typeface="Inter Display"/>
              </a:rPr>
              <a:t>2 контура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" y="29718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F2F7FD"/>
                </a:solidFill>
                <a:latin typeface="Inter"/>
              </a:rPr>
              <a:t>прод на Apache-2.0 и research — лицензионная чистота встроена в архитектуру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1448" y="3977639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2F7FD"/>
                </a:solidFill>
                <a:latin typeface="Inter Display"/>
              </a:rPr>
              <a:t>Прогноз — инструмент. Решение — человек.</a:t>
            </a:r>
          </a:p>
        </p:txBody>
      </p:sp>
      <p:sp>
        <p:nvSpPr>
          <p:cNvPr id="7" name="Rectangle 6"/>
          <p:cNvSpPr/>
          <p:nvPr/>
        </p:nvSpPr>
        <p:spPr>
          <a:xfrm>
            <a:off x="4727448" y="4800600"/>
            <a:ext cx="2743200" cy="32004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41448" y="51663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38B2F8"/>
                </a:solidFill>
                <a:latin typeface="JetBrains Mono"/>
              </a:rPr>
              <a:t>github.com/Osmosy/vector-prediction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626364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FA3BC"/>
                </a:solidFill>
                <a:latin typeface="Inter"/>
              </a:rPr>
              <a:t>Контур A: Apache-2.0 (прод) · Контур B: non-commercial (research only) · гайды и лицензия — в репо</a:t>
            </a:r>
          </a:p>
        </p:txBody>
      </p:sp>
      <p:pic>
        <p:nvPicPr>
          <p:cNvPr id="10" name="Picture 9" descr="vector_ray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274320"/>
            <a:ext cx="822960" cy="58240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