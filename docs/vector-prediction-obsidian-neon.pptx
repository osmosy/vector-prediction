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itle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0B1220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992727" y="1389888"/>
            <a:ext cx="4206240" cy="384048"/>
          </a:xfrm>
          <a:prstGeom prst="roundRect">
            <a:avLst>
              <a:gd name="adj" fmla="val 50000"/>
            </a:avLst>
          </a:prstGeom>
          <a:solidFill>
            <a:srgbClr val="111C2E">
              <a:alpha val="70000"/>
            </a:srgbClr>
          </a:solidFill>
          <a:ln w="9525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92727" y="1463040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 spc="140">
                <a:solidFill>
                  <a:srgbClr val="F2F7FD"/>
                </a:solidFill>
                <a:latin typeface="JetBrains Mono"/>
              </a:rPr>
              <a:t>ПРОГНОЗНЫЙ ДВИЖОК · OSMOSY VECTOR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27048" y="1847088"/>
            <a:ext cx="9144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6000" b="1" i="0">
                <a:solidFill>
                  <a:srgbClr val="38B2F8"/>
                </a:solidFill>
                <a:latin typeface="Inter Display"/>
              </a:rPr>
              <a:t>Vector Prediction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41448" y="2999232"/>
            <a:ext cx="7315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50" b="0" i="0">
                <a:solidFill>
                  <a:srgbClr val="F2F7FD"/>
                </a:solidFill>
                <a:latin typeface="Inter"/>
              </a:rPr>
              <a:t>Гибридный пайплайн TimesFM: прод-прогноз на 2.5, исследования на 3.0 — спрос, продажи, трафик кампаний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729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729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38B2F8"/>
                </a:solidFill>
                <a:latin typeface="Inter Display"/>
              </a:rPr>
              <a:t>2.5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729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8FA3BC"/>
                </a:solidFill>
                <a:latin typeface="JetBrains Mono"/>
              </a:rPr>
              <a:t>прод · Apache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03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303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38B2F8"/>
                </a:solidFill>
                <a:latin typeface="Inter Display"/>
              </a:rPr>
              <a:t>3.0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303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8FA3BC"/>
                </a:solidFill>
                <a:latin typeface="JetBrains Mono"/>
              </a:rPr>
              <a:t>research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877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877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38B2F8"/>
                </a:solidFill>
                <a:latin typeface="Inter Display"/>
              </a:rPr>
              <a:t>6x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877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8FA3BC"/>
                </a:solidFill>
                <a:latin typeface="JetBrains Mono"/>
              </a:rPr>
              <a:t>быстрее ковариаты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53128" y="5138928"/>
            <a:ext cx="3291840" cy="475488"/>
          </a:xfrm>
          <a:prstGeom prst="roundRect">
            <a:avLst>
              <a:gd name="adj" fmla="val 50000"/>
            </a:avLst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53128" y="5248656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JetBrains Mono"/>
              </a:rPr>
              <a:t>github.com/Osmosy/vector-prediction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13048" y="630936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8FA3BC"/>
                </a:solidFill>
                <a:latin typeface="JetBrains Mono"/>
              </a:rPr>
              <a:t>Osmosy · Hermes Agent · 2026</a:t>
            </a:r>
          </a:p>
        </p:txBody>
      </p:sp>
      <p:pic>
        <p:nvPicPr>
          <p:cNvPr id="21" name="Picture 20" descr="vector_ray_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0" y="274320"/>
            <a:ext cx="822960" cy="58240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01 · ВВЕДЕНИЕ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Что такое Vector Prediction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0020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8FA3BC"/>
                </a:solidFill>
                <a:latin typeface="Inter"/>
              </a:rPr>
              <a:t>Zero-shot прогнозирование спроса, продаж и трафика кампаний без обучения под задачу — локально на CPU. Два контура, разделённые по лицензии.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331720"/>
            <a:ext cx="3611880" cy="3108960"/>
          </a:xfrm>
          <a:prstGeom prst="roundRect">
            <a:avLst>
              <a:gd name="adj" fmla="val 2647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551176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Контур A — ПРОД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935224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TimesFM 2.5 · Apache-2.0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19582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Боевые прогнозы: планы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45643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производства и закупки,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717036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KPI кампаний, отчёты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07408" y="2331720"/>
            <a:ext cx="3611880" cy="3108960"/>
          </a:xfrm>
          <a:prstGeom prst="roundRect">
            <a:avLst>
              <a:gd name="adj" fmla="val 2647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3440" y="2551176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Контур B — RESEARCH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2935224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TimesFM 3.0 · non-commercial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319582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Только сравнение моделей: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345643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MAE, скорость, ковариаты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3717036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Не попадает в решения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47888" y="2331720"/>
            <a:ext cx="3611880" cy="3108960"/>
          </a:xfrm>
          <a:prstGeom prst="roundRect">
            <a:avLst>
              <a:gd name="adj" fmla="val 2647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03919" y="2551176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Роли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19" y="2935224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Люди: данные и решения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319582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Агенты: сборка, прогноз,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19" y="345643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ревью качества и лицензии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2 / 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02 · ЗАЧЕМ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Прогноз, которого обычно нет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965960"/>
            <a:ext cx="3611880" cy="2834640"/>
          </a:xfrm>
          <a:prstGeom prst="roundRect">
            <a:avLst>
              <a:gd name="adj" fmla="val 2903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85415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«Как в прошлый раз»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69463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План по интуиции и прошлому опыту.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83006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Акции и праздники — сюрприз: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09067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то дефицит, то перепроизводство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07408" y="1965960"/>
            <a:ext cx="3611880" cy="2834640"/>
          </a:xfrm>
          <a:prstGeom prst="roundRect">
            <a:avLst>
              <a:gd name="adj" fmla="val 2903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0" y="2185415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Excel вручную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2569463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Часы на сводные таблицы,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283006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средние за месяц — не прогноз.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309067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Сезон не учитывается совсем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47888" y="1965960"/>
            <a:ext cx="3611880" cy="2834640"/>
          </a:xfrm>
          <a:prstGeom prst="roundRect">
            <a:avLst>
              <a:gd name="adj" fmla="val 2903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19" y="2185415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Облачные прогнозы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19" y="2569463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Данные продаж уходят наружу,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283006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подписка за каждый прогон,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19" y="309067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чёрный ящик без интервалов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074920"/>
            <a:ext cx="11064240" cy="1691640"/>
          </a:xfrm>
          <a:prstGeom prst="roundRect">
            <a:avLst>
              <a:gd name="adj" fmla="val 4864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5074920"/>
            <a:ext cx="45720" cy="169164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9536" y="529437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Цена ошибки в мясопродуктах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9536" y="569671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Скоропорт: перепроизводство — прямые списания, недопроизводство — упущенная выручка и пустая полка.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" y="5971031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F2F7FD"/>
                </a:solidFill>
                <a:latin typeface="Inter"/>
              </a:rPr>
              <a:t>Шашлычный сезон, Пасха, Новый год — пики, которые нельзя «усреднить»: без сезонной истории модель слепа.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" y="6245351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Промо-дни дают +20–40% к продажам — план без календаря акций систематически ошибается именно в эти дни.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3 / 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03 · РЕШЕНИЕ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Foundation model вместо ручных таблиц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965960"/>
            <a:ext cx="3611880" cy="2834640"/>
          </a:xfrm>
          <a:prstGeom prst="roundRect">
            <a:avLst>
              <a:gd name="adj" fmla="val 2903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85415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Zero-shot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69463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Без обучения под задачу: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83006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загрузили историю — получили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09067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прогноз. 200M параметров,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351276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претрейн на млрд точек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07408" y="1965960"/>
            <a:ext cx="3611880" cy="2834640"/>
          </a:xfrm>
          <a:prstGeom prst="roundRect">
            <a:avLst>
              <a:gd name="adj" fmla="val 2903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3440" y="2185415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Интервалы, не числа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2569463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Каждый день: cautious 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283006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forecast / optimistic 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309067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скоропорт и заморозка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3351276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планируются по-разному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47888" y="1965960"/>
            <a:ext cx="3611880" cy="2834640"/>
          </a:xfrm>
          <a:prstGeom prst="roundRect">
            <a:avLst>
              <a:gd name="adj" fmla="val 2903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19" y="2185415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Локально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19" y="2569463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Веса на своём железе: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19" y="283006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данные продаж не покидают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309067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контур. CPU 20 ядер,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19" y="3351276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RAM ~1.5 ГБ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5074920"/>
            <a:ext cx="11064240" cy="1691640"/>
          </a:xfrm>
          <a:prstGeom prst="roundRect">
            <a:avLst>
              <a:gd name="adj" fmla="val 4864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5074920"/>
            <a:ext cx="45720" cy="169164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529437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Главный эффект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" y="569671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F2F7FD"/>
                </a:solidFill>
                <a:latin typeface="Inter"/>
              </a:rPr>
              <a:t>Модель «видит» будущую акцию: календарь промо подаётся как past-future ковариат — рост заложен заранее.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" y="5971031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Кросс-связи рядов: промо в сосисках видно и в прогнозе ветчины (мультивариантность 3.0; в 2.5 — через XReg).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6" y="6245351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Аномалии в истории ловятся квантилями: факт вне 80% интервала = WARNING/CRITICAL сигнал.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4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04 · ДАННЫЕ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Что подготовить: три уровня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965960"/>
            <a:ext cx="3611880" cy="2834640"/>
          </a:xfrm>
          <a:prstGeom prst="roundRect">
            <a:avLst>
              <a:gd name="adj" fmla="val 2903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85415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Обязательно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69463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История продаж по дням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83006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Минимум 4 месяца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09067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Норма: 1 год, идеально: 2 года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351276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Один продукт = один столбец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07408" y="1965960"/>
            <a:ext cx="3611880" cy="2834640"/>
          </a:xfrm>
          <a:prstGeom prst="roundRect">
            <a:avLst>
              <a:gd name="adj" fmla="val 2903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3440" y="2185415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Повышает точность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2569463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Календарь акций: прошлое + план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283006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Праздники (календарь известен)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309067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Цены по дням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3351276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Посещаемость (только прошлое)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47888" y="1965960"/>
            <a:ext cx="3611880" cy="2834640"/>
          </a:xfrm>
          <a:prstGeom prst="roundRect">
            <a:avLst>
              <a:gd name="adj" fmla="val 2903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19" y="2185415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Бонусы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19" y="2569463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Прогноз погоды на будущее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19" y="283006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Маркетинговые активности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309067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Производственные ограничения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074920"/>
            <a:ext cx="11064240" cy="1691640"/>
          </a:xfrm>
          <a:prstGeom prst="roundRect">
            <a:avLst>
              <a:gd name="adj" fmla="val 4864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5074920"/>
            <a:ext cx="45720" cy="169164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529437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Правило будущего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" y="569671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Будущее передаётся только для заранее известных фактов: акции, праздники, цены по прайсу.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" y="5971031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F2F7FD"/>
                </a:solidFill>
                <a:latin typeface="Inter"/>
              </a:rPr>
              <a:t>Выдуманные будущие числа портят прогноз. Нет плана промо — столбец заполняется нулями, модель честно их не знает.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" y="6245351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Формат: CSV/Excel, одна строка = один день, числа с точкой, без строк «итого». Полный чек-лист: docs/data-guide.md.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5 / 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05 · КТО ЧТО ДЕЛАЕТ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Люди решают — агенты считают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920240"/>
            <a:ext cx="2670048" cy="1828800"/>
          </a:xfrm>
          <a:prstGeom prst="roundRect">
            <a:avLst>
              <a:gd name="adj" fmla="val 4500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00199" y="2157984"/>
            <a:ext cx="475488" cy="475488"/>
          </a:xfrm>
          <a:prstGeom prst="ellipse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Данные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Продажи выгружают историю,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маркетолог даёт план промо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18688" y="2788920"/>
            <a:ext cx="256032" cy="32004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74720" y="1920240"/>
            <a:ext cx="2670048" cy="1828800"/>
          </a:xfrm>
          <a:prstGeom prst="roundRect">
            <a:avLst>
              <a:gd name="adj" fmla="val 4500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2000" y="2157984"/>
            <a:ext cx="475488" cy="475488"/>
          </a:xfrm>
          <a:prstGeom prst="ellipse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Сборка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Агент-сборщик: чек-лист,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307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склейка CSV, preflight системы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0488" y="2788920"/>
            <a:ext cx="256032" cy="32004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46520" y="1920240"/>
            <a:ext cx="2670048" cy="1828800"/>
          </a:xfrm>
          <a:prstGeom prst="roundRect">
            <a:avLst>
              <a:gd name="adj" fmla="val 4500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543800" y="2157984"/>
            <a:ext cx="475488" cy="475488"/>
          </a:xfrm>
          <a:prstGeom prst="ellipse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025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Прогноз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025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Контур A: интервалы 60/80%,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25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аномалии, метрики на holdout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62288" y="2788920"/>
            <a:ext cx="256032" cy="32004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418320" y="1920240"/>
            <a:ext cx="2670048" cy="1828800"/>
          </a:xfrm>
          <a:prstGeom prst="roundRect">
            <a:avLst>
              <a:gd name="adj" fmla="val 4500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515600" y="2157984"/>
            <a:ext cx="475488" cy="475488"/>
          </a:xfrm>
          <a:prstGeom prst="ellipse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743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Решение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743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Ревьюер допускает 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43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директор планирует по цифрам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8952" y="4297680"/>
            <a:ext cx="10671048" cy="1920240"/>
          </a:xfrm>
          <a:prstGeom prst="roundRect">
            <a:avLst>
              <a:gd name="adj" fmla="val 4285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58952" y="4297680"/>
            <a:ext cx="45720" cy="192024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51713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Разделение ответственности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49194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Люди: полнота и правдивость данных, план акций, финальное решение по производству.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" y="519379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F2F7FD"/>
                </a:solidFill>
                <a:latin typeface="Inter"/>
              </a:rPr>
              <a:t>Агенты: формат и склейка, запуск модели, ревью качества и лицензии. Агент не передаёт сырые цифры — сначала holdout-метрики.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" y="546811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Каденция: история раз в неделю, прогноз еженедельно, сравнение моделей и проверка лицензии 3.0 — раз в месяц.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6 / 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06 · АРХИТЕКТУРА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Двухконтурная схема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2011680"/>
            <a:ext cx="11064240" cy="1417320"/>
          </a:xfrm>
          <a:prstGeom prst="roundRect">
            <a:avLst>
              <a:gd name="adj" fmla="val 5806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011680"/>
            <a:ext cx="45720" cy="14173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223113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Контур A · ПРОД — TimesFM 2.5, Apache-2.0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263347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campaign_forecast.py: точечный прогноз + 60/80% интервалы, XReg-ковариаты (промо, праздники, цены), аномалии, holdout-метрики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593592"/>
            <a:ext cx="11064240" cy="1417320"/>
          </a:xfrm>
          <a:prstGeom prst="roundRect">
            <a:avLst>
              <a:gd name="adj" fmla="val 5806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3593592"/>
            <a:ext cx="45720" cy="14173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3813048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Контур B · RESEARCH — TimesFM 3.0, non-commercial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4215384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research_bench.py: нативная мультисерийность, past-future ковариаты за один проход (~6x быстрее), 9 квантилей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175504"/>
            <a:ext cx="11064240" cy="1691640"/>
          </a:xfrm>
          <a:prstGeom prst="roundRect">
            <a:avLst>
              <a:gd name="adj" fmla="val 4864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5175504"/>
            <a:ext cx="45720" cy="169164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" y="5394960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Лицензионная граница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" y="5797296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Прогноз 3.0 не попадает в производственные решения — только внутреннее сравнение моделей. Пути к коммерческому 3.0: Apache-релиз, BigQuery AI.FORECAST, прямая лицензия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7 / 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07 · ЛИЦЕНЗИЯ TIMESFM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Non-commercial: что можно и нельзя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965960"/>
            <a:ext cx="3611880" cy="2834640"/>
          </a:xfrm>
          <a:prstGeom prst="roundRect">
            <a:avLst>
              <a:gd name="adj" fmla="val 2903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85415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Разрешено — 3.0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69463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Бенчмарк против 2.5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83006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Внутренние отчёты о моделях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09067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Outputs не являются Derivative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351276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Исследования и оценка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07408" y="1965960"/>
            <a:ext cx="3611880" cy="2834640"/>
          </a:xfrm>
          <a:prstGeom prst="roundRect">
            <a:avLst>
              <a:gd name="adj" fmla="val 2903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3440" y="2185415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Запрещено — 3.0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2569463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План производства по цифрам 3.0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283006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Продажа прогноза как услуги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309067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Дистилляция в коммерческую модель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3351276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Дистрибуция весов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47888" y="1965960"/>
            <a:ext cx="3611880" cy="2834640"/>
          </a:xfrm>
          <a:prstGeom prst="roundRect">
            <a:avLst>
              <a:gd name="adj" fmla="val 2903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19" y="2185415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Коммерческий путь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19" y="2569463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2.5 — Apache-2.0 (уже прод)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19" y="283006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BigQuery AI.FORECAST — API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309067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Прямая лицензия у Google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19" y="3351276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Мониторинг: раз в месяц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5074920"/>
            <a:ext cx="11064240" cy="1554480"/>
          </a:xfrm>
          <a:prstGeom prst="roundRect">
            <a:avLst>
              <a:gd name="adj" fmla="val 5294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5074920"/>
            <a:ext cx="45720" cy="155448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529437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Грань, которую держим в коде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" y="569671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research_bench.py — отдельный вход, не импортируется прод-пайплайном, предупреждение при каждом запуске.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" y="5971031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F2F7FD"/>
                </a:solidFill>
                <a:latin typeface="Inter"/>
              </a:rPr>
              <a:t>Грань: цифра 3.0 попала в производственный план = нарушение. Сравнение 3.0 vs 2.5 во внутреннем отчёте = можно.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8 / 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08 · БЕНЧМАРК 2.5 VS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Точность и скорость на живом прогоне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874519"/>
            <a:ext cx="9235440" cy="384048"/>
          </a:xfrm>
          <a:prstGeom prst="roundRect">
            <a:avLst>
              <a:gd name="adj" fmla="val 21428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1965960"/>
            <a:ext cx="33832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JetBrains Mono"/>
              </a:rPr>
              <a:t>Метрика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61103" y="1965960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JetBrains Mono"/>
              </a:rPr>
              <a:t>2.5 база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78423" y="1965960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JetBrains Mono"/>
              </a:rPr>
              <a:t>2.5 XReg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95743" y="1965960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JetBrains Mono"/>
              </a:rPr>
              <a:t>3.0 база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13064" y="1965960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JetBrains Mono"/>
              </a:rPr>
              <a:t>3.0 ковар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313432"/>
            <a:ext cx="9235440" cy="475488"/>
          </a:xfrm>
          <a:prstGeom prst="roundRect">
            <a:avLst>
              <a:gd name="adj" fmla="val 17307"/>
            </a:avLst>
          </a:prstGeom>
          <a:solidFill>
            <a:srgbClr val="141F33"/>
          </a:solidFill>
          <a:ln w="9525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2414015"/>
            <a:ext cx="33832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Inter"/>
              </a:rPr>
              <a:t>MAE, весь горизонт (T=400)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61103" y="2414015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0.120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78423" y="2414015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0.107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95743" y="2414015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0.128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13064" y="2414015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JetBrains Mono"/>
              </a:rPr>
              <a:t>0.105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2843784"/>
            <a:ext cx="9235440" cy="475488"/>
          </a:xfrm>
          <a:prstGeom prst="roundRect">
            <a:avLst>
              <a:gd name="adj" fmla="val 17307"/>
            </a:avLst>
          </a:prstGeom>
          <a:solidFill>
            <a:srgbClr val="141F33"/>
          </a:solidFill>
          <a:ln w="9525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" y="2944368"/>
            <a:ext cx="33832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Inter"/>
              </a:rPr>
              <a:t>MAE, обычные дни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61103" y="2944368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0.129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78423" y="2944368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0.114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95743" y="2944368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0.134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13064" y="2944368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JetBrains Mono"/>
              </a:rPr>
              <a:t>0.108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3374136"/>
            <a:ext cx="9235440" cy="475488"/>
          </a:xfrm>
          <a:prstGeom prst="roundRect">
            <a:avLst>
              <a:gd name="adj" fmla="val 17307"/>
            </a:avLst>
          </a:prstGeom>
          <a:solidFill>
            <a:srgbClr val="141F33"/>
          </a:solidFill>
          <a:ln w="9525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4944" y="3474720"/>
            <a:ext cx="33832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Inter"/>
              </a:rPr>
              <a:t>MAE, промо-дни (T=200, короткая история)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61103" y="3474720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0.412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78423" y="3474720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0.381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95743" y="3474720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0.359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13064" y="3474720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JetBrains Mono"/>
              </a:rPr>
              <a:t>0.142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3904487"/>
            <a:ext cx="9235440" cy="475488"/>
          </a:xfrm>
          <a:prstGeom prst="roundRect">
            <a:avLst>
              <a:gd name="adj" fmla="val 17307"/>
            </a:avLst>
          </a:prstGeom>
          <a:solidFill>
            <a:srgbClr val="141F33"/>
          </a:solidFill>
          <a:ln w="9525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4944" y="4005072"/>
            <a:ext cx="33832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Inter"/>
              </a:rPr>
              <a:t>Время, ковариатный прогноз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61103" y="4005072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78423" y="4005072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~1.3 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95743" y="4005072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~0.2 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13064" y="4005072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JetBrains Mono"/>
              </a:rPr>
              <a:t>~0.23 с (6x)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" y="4846320"/>
            <a:ext cx="11064240" cy="1783080"/>
          </a:xfrm>
          <a:prstGeom prst="roundRect">
            <a:avLst>
              <a:gd name="adj" fmla="val 4615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66928" y="4846320"/>
            <a:ext cx="45720" cy="178308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59536" y="506577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Как читать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9536" y="546811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F2F7FD"/>
                </a:solidFill>
                <a:latin typeface="Inter"/>
              </a:rPr>
              <a:t>Вывод: точность сопоставима (лучший — 3.0 с ковариатом), скорость ковариатного прогноза у 3.0 в ~6 раз выше.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9536" y="5742431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Для прод-календаря акций 2.5+XReg достаточен: на выраженном промо-паттерне ошибка промо-дня близка к нулю.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9536" y="6016751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Живой прогон 04.09.2026 на этой машине (Ryzen AI 9 H 365, 20 CPU): синтетика с сезонностью и промо +20%. Реальный ряд из репо (106 точек): 2.5+XReg MAE 31.4 vs 3.0+ковариат 40.5 — на короткой истории 2.5 выигрывает.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9 / 12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09 · РЕЗУЛЬТАТ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Что получает директор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874519"/>
            <a:ext cx="8686800" cy="384048"/>
          </a:xfrm>
          <a:prstGeom prst="roundRect">
            <a:avLst>
              <a:gd name="adj" fmla="val 21428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196596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JetBrains Mono"/>
              </a:rPr>
              <a:t>Дата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06624" y="1965960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JetBrains Mono"/>
              </a:rPr>
              <a:t>Forecast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3984" y="1965960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JetBrains Mono"/>
              </a:rPr>
              <a:t>Cautious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81344" y="1965960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JetBrains Mono"/>
              </a:rPr>
              <a:t>Optimistic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18704" y="196596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JetBrains Mono"/>
              </a:rPr>
              <a:t>Промо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313432"/>
            <a:ext cx="8686800" cy="475488"/>
          </a:xfrm>
          <a:prstGeom prst="roundRect">
            <a:avLst>
              <a:gd name="adj" fmla="val 17307"/>
            </a:avLst>
          </a:prstGeom>
          <a:solidFill>
            <a:srgbClr val="141F33"/>
          </a:solidFill>
          <a:ln w="9525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2414015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Inter"/>
              </a:rPr>
              <a:t>2026-09-05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06624" y="2414015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JetBrains Mono"/>
              </a:rPr>
              <a:t>196.8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43984" y="2414015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184.2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1344" y="2414015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209.5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18704" y="2414015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акция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2843784"/>
            <a:ext cx="8686800" cy="475488"/>
          </a:xfrm>
          <a:prstGeom prst="roundRect">
            <a:avLst>
              <a:gd name="adj" fmla="val 17307"/>
            </a:avLst>
          </a:prstGeom>
          <a:solidFill>
            <a:srgbClr val="141F33"/>
          </a:solidFill>
          <a:ln w="9525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" y="294436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Inter"/>
              </a:rPr>
              <a:t>2026-09-06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06624" y="2944368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JetBrains Mono"/>
              </a:rPr>
              <a:t>204.1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43984" y="2944368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191.0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81344" y="2944368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217.3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18704" y="294436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акция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3374136"/>
            <a:ext cx="8686800" cy="475488"/>
          </a:xfrm>
          <a:prstGeom prst="roundRect">
            <a:avLst>
              <a:gd name="adj" fmla="val 17307"/>
            </a:avLst>
          </a:prstGeom>
          <a:solidFill>
            <a:srgbClr val="141F33"/>
          </a:solidFill>
          <a:ln w="9525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4944" y="347472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Inter"/>
              </a:rPr>
              <a:t>2026-09-07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06624" y="3474720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JetBrains Mono"/>
              </a:rPr>
              <a:t>172.5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43984" y="3474720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160.8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81344" y="3474720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184.1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18704" y="347472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—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3904487"/>
            <a:ext cx="8686800" cy="475488"/>
          </a:xfrm>
          <a:prstGeom prst="roundRect">
            <a:avLst>
              <a:gd name="adj" fmla="val 17307"/>
            </a:avLst>
          </a:prstGeom>
          <a:solidFill>
            <a:srgbClr val="141F33"/>
          </a:solidFill>
          <a:ln w="9525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4944" y="400507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Inter"/>
              </a:rPr>
              <a:t>2026-09-08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6624" y="4005072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JetBrains Mono"/>
              </a:rPr>
              <a:t>141.2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43984" y="4005072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129.6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81344" y="4005072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152.7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18704" y="400507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—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" y="4434840"/>
            <a:ext cx="11064240" cy="2148840"/>
          </a:xfrm>
          <a:prstGeom prst="roundRect">
            <a:avLst>
              <a:gd name="adj" fmla="val 3829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66928" y="4434840"/>
            <a:ext cx="45720" cy="214884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59536" y="465429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Как читать и что делать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9536" y="5056631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F2F7FD"/>
                </a:solidFill>
                <a:latin typeface="Inter"/>
              </a:rPr>
              <a:t>forecast — план производства/закупки по умолчанию. cautious (10-й перцентиль) — нижняя граница: скоропорт ближе к ней. optimistic (90-й) — запас для заморозки и долгих сроков.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9536" y="5330951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В промо-дни (5–6 сентября) модель подняла прогноз заранее — календарь акций из плана сработал.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9536" y="5605271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Метрики на holdout: MAE/RMSE/MAPE + покрытие 80% интервала (цель ~80%). MAPE &gt; 15% — сигнал усилить данные: длиннее история, добавить ковариаты.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10 / 12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10 · КАДЕНЦИЯ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Ритм работы прогнозного контура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874519"/>
            <a:ext cx="11064240" cy="384048"/>
          </a:xfrm>
          <a:prstGeom prst="roundRect">
            <a:avLst>
              <a:gd name="adj" fmla="val 21428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196596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JetBrains Mono"/>
              </a:rPr>
              <a:t>Цикл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06624" y="1965960"/>
            <a:ext cx="49377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JetBrains Mono"/>
              </a:rPr>
              <a:t>Что происходит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27264" y="1965960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JetBrains Mono"/>
              </a:rPr>
              <a:t>Кто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313432"/>
            <a:ext cx="11064240" cy="566928"/>
          </a:xfrm>
          <a:prstGeom prst="roundRect">
            <a:avLst>
              <a:gd name="adj" fmla="val 14516"/>
            </a:avLst>
          </a:prstGeom>
          <a:solidFill>
            <a:srgbClr val="141F33"/>
          </a:solidFill>
          <a:ln w="9525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" y="2414015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Inter"/>
              </a:rPr>
              <a:t>Еженедельно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6624" y="2414015"/>
            <a:ext cx="49377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Выгрузка истории за прошедшую неделю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27264" y="2414015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Продажи → агент-сборщик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2935224"/>
            <a:ext cx="11064240" cy="566928"/>
          </a:xfrm>
          <a:prstGeom prst="roundRect">
            <a:avLst>
              <a:gd name="adj" fmla="val 14516"/>
            </a:avLst>
          </a:prstGeom>
          <a:solidFill>
            <a:srgbClr val="141F33"/>
          </a:solidFill>
          <a:ln w="9525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303580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Inter"/>
              </a:rPr>
              <a:t>Еженедельно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06624" y="3035808"/>
            <a:ext cx="49377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Прогноз на 2 недели вперёд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27264" y="3035808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Агент-прогнозист (контур A)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557015"/>
            <a:ext cx="11064240" cy="566928"/>
          </a:xfrm>
          <a:prstGeom prst="roundRect">
            <a:avLst>
              <a:gd name="adj" fmla="val 14516"/>
            </a:avLst>
          </a:prstGeom>
          <a:solidFill>
            <a:srgbClr val="141F33"/>
          </a:solidFill>
          <a:ln w="9525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" y="3657599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Inter"/>
              </a:rPr>
              <a:t>Раз в месяц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06624" y="3657599"/>
            <a:ext cx="49377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Сравнение 2.5 vs 3.0 на свежих данных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27264" y="3657599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Агент-исследователь (контур B)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178807"/>
            <a:ext cx="11064240" cy="566928"/>
          </a:xfrm>
          <a:prstGeom prst="roundRect">
            <a:avLst>
              <a:gd name="adj" fmla="val 14516"/>
            </a:avLst>
          </a:prstGeom>
          <a:solidFill>
            <a:srgbClr val="141F33"/>
          </a:solidFill>
          <a:ln w="9525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4944" y="427939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Inter"/>
              </a:rPr>
              <a:t>Раз в месяц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06624" y="4279392"/>
            <a:ext cx="49377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Проверка: Apache-релиз 3.0? BigQuery?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27264" y="4279392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Агент-исследователь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4800599"/>
            <a:ext cx="11064240" cy="566928"/>
          </a:xfrm>
          <a:prstGeom prst="roundRect">
            <a:avLst>
              <a:gd name="adj" fmla="val 14516"/>
            </a:avLst>
          </a:prstGeom>
          <a:solidFill>
            <a:srgbClr val="141F33"/>
          </a:solidFill>
          <a:ln w="9525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4944" y="4901183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Inter"/>
              </a:rPr>
              <a:t>По событию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06624" y="4901183"/>
            <a:ext cx="49377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Внеплановый прогноз под акцию/запуск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27264" y="4901183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По заявке директора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5532120"/>
            <a:ext cx="11064240" cy="1097280"/>
          </a:xfrm>
          <a:prstGeom prst="roundRect">
            <a:avLst>
              <a:gd name="adj" fmla="val 7500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5532120"/>
            <a:ext cx="45720" cy="109728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9536" y="575157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Правило контура 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9536" y="615391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research_bench.py не встраивается в прод-пайплайн: отдельный вход, отдельный выход.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11 / 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11 · РАЗВИТИЕ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Roadmap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83080"/>
            <a:ext cx="11064240" cy="914400"/>
          </a:xfrm>
          <a:prstGeom prst="roundRect">
            <a:avLst>
              <a:gd name="adj" fmla="val 9000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783080"/>
            <a:ext cx="45720" cy="91440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200253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Ближайшее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240487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Прогноз на реальных данных мясопродуктов (календарь акций + праздники + цены)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2679191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Подключение 1С-выгрузки к формату history.csv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360"/>
            <a:ext cx="11064240" cy="1280160"/>
          </a:xfrm>
          <a:prstGeom prst="roundRect">
            <a:avLst>
              <a:gd name="adj" fmla="val 6428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" y="2880360"/>
            <a:ext cx="45720" cy="128016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3099815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Средний горизонт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350215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BigQuery AI.FORECAST, когда 3.0 появится — облачный контур для масштаба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" y="377647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Мультивариантный режим 3.0 в прод-пайплайне после Apache-релиза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343400"/>
            <a:ext cx="11064240" cy="1005840"/>
          </a:xfrm>
          <a:prstGeom prst="roundRect">
            <a:avLst>
              <a:gd name="adj" fmla="val 8181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4343400"/>
            <a:ext cx="45720" cy="100584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" y="456285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Экосистема Vector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" y="496519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Связка с vector-work (роли) и vector-marketing (кампании)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" y="523951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Единый прогнозный слой для всех продуктов Osmosy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12 / 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527048" y="1828800"/>
            <a:ext cx="9144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5800" b="1" i="0">
                <a:solidFill>
                  <a:srgbClr val="38B2F8"/>
                </a:solidFill>
                <a:latin typeface="Inter Display"/>
              </a:rPr>
              <a:t>2 контура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" y="29718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F2F7FD"/>
                </a:solidFill>
                <a:latin typeface="Inter"/>
              </a:rPr>
              <a:t>прод на Apache-2.0 и research — лицензионная чистота встроена в архитектуру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1448" y="3977639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2F7FD"/>
                </a:solidFill>
                <a:latin typeface="Inter Display"/>
              </a:rPr>
              <a:t>Прогноз — инструмент. Решение — человек.</a:t>
            </a:r>
          </a:p>
        </p:txBody>
      </p:sp>
      <p:sp>
        <p:nvSpPr>
          <p:cNvPr id="7" name="Rectangle 6"/>
          <p:cNvSpPr/>
          <p:nvPr/>
        </p:nvSpPr>
        <p:spPr>
          <a:xfrm>
            <a:off x="4727448" y="4800600"/>
            <a:ext cx="2743200" cy="32004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41448" y="51663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0" i="0">
                <a:solidFill>
                  <a:srgbClr val="38B2F8"/>
                </a:solidFill>
                <a:latin typeface="JetBrains Mono"/>
              </a:rPr>
              <a:t>github.com/Osmosy/vector-prediction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41448" y="626364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8FA3BC"/>
                </a:solidFill>
                <a:latin typeface="Inter"/>
              </a:rPr>
              <a:t>Контур A: Apache-2.0 (прод) · Контур B: non-commercial (research only) · гайды и лицензия — в репо</a:t>
            </a:r>
          </a:p>
        </p:txBody>
      </p:sp>
      <p:pic>
        <p:nvPicPr>
          <p:cNvPr id="10" name="Picture 9" descr="vector_ray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274320"/>
            <a:ext cx="822960" cy="58240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