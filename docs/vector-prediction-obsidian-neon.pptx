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dictio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B122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92727" y="138988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111C2E">
              <a:alpha val="70000"/>
            </a:srgbClr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92727" y="14630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140">
                <a:solidFill>
                  <a:srgbClr val="F2F7FD"/>
                </a:solidFill>
                <a:latin typeface="JetBrains Mono"/>
              </a:rPr>
              <a:t>ПРОГНОЗНЫЙ ДВИЖОК · OSMOSY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38B2F8"/>
                </a:solidFill>
                <a:latin typeface="Inter Display"/>
              </a:rPr>
              <a:t>Vector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299923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0" i="0">
                <a:solidFill>
                  <a:srgbClr val="F2F7FD"/>
                </a:solidFill>
                <a:latin typeface="Inter"/>
              </a:rPr>
              <a:t>Гибридный пайплайн TimesFM: прод-прогноз на 2.5, исследования на 3.0 — спрос, продажи, трафик кампаний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прод · Apache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~6x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быстрее ковариаты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JetBrains Mono"/>
              </a:rPr>
              <a:t>github.com/Osmosy/vector-prediction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630936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FA3BC"/>
                </a:solidFill>
                <a:latin typeface="JetBrains Mono"/>
              </a:rPr>
              <a:t>Osmosy · Hermes Agent · 2026</a:t>
            </a:r>
          </a:p>
        </p:txBody>
      </p:sp>
      <p:pic>
        <p:nvPicPr>
          <p:cNvPr id="21" name="Picture 20" descr="vector_r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Что такое Vector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Inter"/>
              </a:rPr>
              <a:t>Zero-shot прогнозирование спроса, продаж и трафика кампаний без обучения под задачу — локально на CPU. Два контура, разделённые по лицензии.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Контур A — ПРОД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TimesFM 2.5 · Apache-2.0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Боевые прогнозы: планы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производства и закупки,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1703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KPI кампаний, отчёты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Контур B —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TimesFM 3.0 · non-commercial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Только сравнение моделей: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MAE, скорость, ковариаты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1703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Не попадает в решения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Роли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Люди: данные и решения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Агенты: сборка, прогноз,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ревью качества и лицензии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2 /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02 · ЗАЧЕМ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Прогноз, которого обычно нет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«Как в прошлый раз»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План по интуиции и прошлому опыту.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Акции и праздники — сюрприз: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то дефицит, то перепроизводство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Excel вручную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Часы на сводные таблицы,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средние за месяц — не прогноз.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Сезон не учитывается совсем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Облачные прогнозы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Данные продаж уходят наружу,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подписка за каждый прогон,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чёрный ящик без интервалов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46319"/>
            <a:ext cx="11064240" cy="1572768"/>
          </a:xfrm>
          <a:prstGeom prst="roundRect">
            <a:avLst>
              <a:gd name="adj" fmla="val 5232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846319"/>
            <a:ext cx="45720" cy="157276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065775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Цена ошибки в мясопродуктах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46811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Скоропорт: перепроизводство — прямые списания, недопроизводство — упущенная выручка и пустая полка.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7424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Шашлычный сезон, Пасха, Новый год — пики, которые нельзя «усреднить»: без сезонной истории модель слепа.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60167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Промо-дни дают +20–40% к продажам — план без календаря акций систематически ошибается именно в эти дни.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3 /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03 ·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Foundation model вместо ручных таблиц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Zero-shot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Без обучения под задачу: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загрузили историю — получили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прогноз. 200M параметров,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претрейн на млрд точек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Интервалы, не числа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Каждый день: cautious 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forecast / optimistic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скоропорт и заморозка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планируются по-разному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Локально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Веса на своём железе: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данные продаж не покидают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контур. CPU 20 ядер,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RAM ~1.5 ГБ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46319"/>
            <a:ext cx="11064240" cy="1572768"/>
          </a:xfrm>
          <a:prstGeom prst="roundRect">
            <a:avLst>
              <a:gd name="adj" fmla="val 5232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846319"/>
            <a:ext cx="45720" cy="157276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065775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Главный эффект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6811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Модель «видит» будущую акцию: календарь промо подаётся как past-future ковариат — рост заложен заранее.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424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Кросс-связи рядов: промо в сосисках видно и в прогнозе ветчины (мультивариантность 3.0; в 2.5 — через XReg).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60167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Аномалии в истории ловятся квантилями: факт вне 80% интервала = WARNING/CRITICAL сигнал.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4 /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04 ·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Что подготовить: три уровня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Обязательно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История продаж по дням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Минимум 4 месяца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Норма: 1 год, идеально: 2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Один продукт = один столбец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Повышает точность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Календарь акций: прошлое + план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Праздники (календарь известен)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Цены по дням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Посещаемость (только прошлое)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65960"/>
            <a:ext cx="3611880" cy="2514600"/>
          </a:xfrm>
          <a:prstGeom prst="roundRect">
            <a:avLst>
              <a:gd name="adj" fmla="val 3272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Бонусы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Прогноз погоды на будущее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Маркетинговые активности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Производственные ограничения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46319"/>
            <a:ext cx="11064240" cy="1572768"/>
          </a:xfrm>
          <a:prstGeom prst="roundRect">
            <a:avLst>
              <a:gd name="adj" fmla="val 5232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846319"/>
            <a:ext cx="45720" cy="157276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065775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Правило будущего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46811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Будущее передаётся только для заранее известных фактов: акции, праздники, цены по прайсу.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7424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Выдуманные будущие числа портят прогноз. Нет плана промо — столбец заполняется нулями, модель честно их не знает.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60167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Формат: CSV/Excel, одна строка = один день, числа с точкой, без строк «итого». Полный чек-лист: docs/data-guide.md.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5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05 · КТО ЧТО ДЕЛАЕТ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Люди решают — агенты считают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Продажи: история.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Маркетолог: план промо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Сборка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Агент-сборщик: чек-лист,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склейка CSV, preflight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Прогноз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Контур A: интервалы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60/80%, аномалии, holdout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Решение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Ревьюер допускает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директор планирует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846319"/>
            <a:ext cx="10671048" cy="1572768"/>
          </a:xfrm>
          <a:prstGeom prst="roundRect">
            <a:avLst>
              <a:gd name="adj" fmla="val 5232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846319"/>
            <a:ext cx="45720" cy="157276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06577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Разделение ответственности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46811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Люди: полнота и правдивость данных, план акций, финальное решение по производству.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7424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Агенты: формат и склейка, запуск модели, ревью качества и лицензии. Агент не передаёт сырые цифры — сначала holdout-метрики.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60167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Каденция: история раз в неделю, прогноз еженедельно, сравнение моделей и проверка лицензии 3.0 — раз в месяц.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6 /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06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Двухконтурная схема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11064240" cy="1024128"/>
          </a:xfrm>
          <a:prstGeom prst="roundRect">
            <a:avLst>
              <a:gd name="adj" fmla="val 8035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45720" cy="102412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Контур A · ПРОД — TimesFM 2.5, Apache-2.0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campaign_forecast.py: точечный прогноз + 60/80% интервалы, XReg-ковариаты (промо, праздники, цены), аномалии, holdout-метрики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0400"/>
            <a:ext cx="11064240" cy="1024128"/>
          </a:xfrm>
          <a:prstGeom prst="roundRect">
            <a:avLst>
              <a:gd name="adj" fmla="val 8035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200400"/>
            <a:ext cx="45720" cy="102412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4198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Контур B · RESEARCH — TimesFM 3.0, non-commercial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221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research_bench.py: нативная мультисерийность, past-future ковариаты за один проход (~6x быстрее), 9 квантилей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89120"/>
            <a:ext cx="11064240" cy="1197864"/>
          </a:xfrm>
          <a:prstGeom prst="roundRect">
            <a:avLst>
              <a:gd name="adj" fmla="val 687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389120"/>
            <a:ext cx="45720" cy="119786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6085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Лицензионная граница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010912"/>
            <a:ext cx="10424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Прогноз 3.0 не попадает в производственные решения — только внутреннее сравнение моделей. Пути к коммерческому 3.0: Apache-релиз, BigQuery AI.FORECAST, прямая лицензия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7 /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07 · ЛИЦЕНЗИЯ TIMESFM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Non-commercial: что можно и нельзя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Разрешено —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Бенчмарк против 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Внутренние отчёты о моделях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Outputs не являются Derivative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Исследования и оценка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659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Запрещено —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План производства по цифрам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Продажа прогноза как услуги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Дистилляция в коммерческую модель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Дистрибуция весов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659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Коммерческий путь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2.5 — Apache-2.0 (уже прод)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BigQuery AI.FORECAST —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Прямая лицензия у 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Мониторинг: раз в месяц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2064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120640"/>
            <a:ext cx="45720" cy="12984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34009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Грань, которую держим в коде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7424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research_bench.py — отдельный вход, не импортируется прод-пайплайном, предупреждение при каждом запуске.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60167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Грань: цифра 3.0 попала в производственный план = нарушение. Сравнение 3.0 vs 2.5 во внутреннем отчёте = можно.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8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08 · БЕНЧМАРК 2.5 VS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Точность и скорость на живом прогоне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9235440" cy="384048"/>
          </a:xfrm>
          <a:prstGeom prst="roundRect">
            <a:avLst>
              <a:gd name="adj" fmla="val 2142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65960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Метрика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3" y="196596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2.5 база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3" y="196596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2.5 XReg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3" y="196596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3.0 база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196596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3.0 ковар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13432"/>
            <a:ext cx="9235440" cy="475488"/>
          </a:xfrm>
          <a:prstGeom prst="roundRect">
            <a:avLst>
              <a:gd name="adj" fmla="val 17307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414015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MAE, clicks (контекст 106, горизонт 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3" y="2414015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33.75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423" y="2414015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31.42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3" y="2414015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67.77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2414015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40.55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843784"/>
            <a:ext cx="9235440" cy="475488"/>
          </a:xfrm>
          <a:prstGeom prst="roundRect">
            <a:avLst>
              <a:gd name="adj" fmla="val 17307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944368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Время прогноза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3" y="294436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0.17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8423" y="294436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1.30 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3" y="294436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0.20 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294436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0.22 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374136"/>
            <a:ext cx="9235440" cy="475488"/>
          </a:xfrm>
          <a:prstGeom prst="roundRect">
            <a:avLst>
              <a:gd name="adj" fmla="val 17307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474720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Ковариат промо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3" y="34747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3" y="34747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XReg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3" y="34747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34747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нативный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904487"/>
            <a:ext cx="9235440" cy="475488"/>
          </a:xfrm>
          <a:prstGeom prst="roundRect">
            <a:avLst>
              <a:gd name="adj" fmla="val 17307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4005072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Лицензия весов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1103" y="40050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Apache-2.0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78423" y="40050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Apache-2.0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3" y="40050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non-comm.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40050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non-comm.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846319"/>
            <a:ext cx="11064240" cy="1572768"/>
          </a:xfrm>
          <a:prstGeom prst="roundRect">
            <a:avLst>
              <a:gd name="adj" fmla="val 5232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846319"/>
            <a:ext cx="45720" cy="157276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065775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Как читать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546811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Вывод: на ряде из репо точнее 2.5 + XReg (MAE 31.42 против 40.55 у 3.0 с ковариатом); 3.0 быстрее в ковариатном прогнозе (~6x).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57424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Прод-выбор 2.5 оправдан и лицензией, и точностью; 3.0 — быстрый тест-прогон перед боевым расчётом на 2.5.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60167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Повторить: research_bench.py --input data/sample/history.csv --value-col clicks (27.09.2026, Ryzen AI 9 H 365, 20 CPU).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9 / 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09 ·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Что получает директор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8686800" cy="384048"/>
          </a:xfrm>
          <a:prstGeom prst="roundRect">
            <a:avLst>
              <a:gd name="adj" fmla="val 2142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65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Дата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1965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965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Cautious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1965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Optimistic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8704" y="19659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Промо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13432"/>
            <a:ext cx="8686800" cy="420624"/>
          </a:xfrm>
          <a:prstGeom prst="roundRect">
            <a:avLst>
              <a:gd name="adj" fmla="val 19565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414015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2026-09-05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4140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196.8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4140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184.2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4140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209.5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2414015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акция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788920"/>
            <a:ext cx="8686800" cy="420624"/>
          </a:xfrm>
          <a:prstGeom prst="roundRect">
            <a:avLst>
              <a:gd name="adj" fmla="val 19565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889503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2026-09-06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6624" y="288950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204.1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88950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191.0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88950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217.3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88950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акция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264408"/>
            <a:ext cx="8686800" cy="420624"/>
          </a:xfrm>
          <a:prstGeom prst="roundRect">
            <a:avLst>
              <a:gd name="adj" fmla="val 19565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36499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2026-09-07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172.5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160.8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184.1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3364991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739896"/>
            <a:ext cx="8686800" cy="420624"/>
          </a:xfrm>
          <a:prstGeom prst="roundRect">
            <a:avLst>
              <a:gd name="adj" fmla="val 19565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2026-09-08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6624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141.2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4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129.6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152.7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38404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498848"/>
            <a:ext cx="11064240" cy="1920240"/>
          </a:xfrm>
          <a:prstGeom prst="roundRect">
            <a:avLst>
              <a:gd name="adj" fmla="val 4285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498848"/>
            <a:ext cx="45720" cy="19202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471830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Как читать и что делать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5120640"/>
            <a:ext cx="10424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forecast — план производства/закупки по умолчанию. cautious (10-й перцентиль) — нижняя граница: скоропорт ближе к ней. optimistic (90-й) — запас для заморозки и долгих сроков.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556869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В промо-дни (5–6 сентября) модель подняла прогноз заранее — календарь акций из плана сработал.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5843016"/>
            <a:ext cx="10424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Метрики на holdout: MAE/RMSE/MAPE + покрытие 80% интервала (цель ~80%). MAPE &gt; 15% — сигнал усилить данные: длиннее история, добавить ковариаты.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10 / 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10 · КАДЕНЦИЯ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Ритм работы прогнозного контура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384048"/>
          </a:xfrm>
          <a:prstGeom prst="roundRect">
            <a:avLst>
              <a:gd name="adj" fmla="val 2142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65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Цикл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1965960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Что происходит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659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Кто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13432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14015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Еженедельно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2414015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Выгрузка истории за прошедшую неделю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414015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Продажи → агент-сборщик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8036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Еженедельно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2980944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Прогноз на 2 недели вперёд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298094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Агент-прогнозист (контур 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47288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5478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Раз в месяц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6624" y="3547872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Сравнение 2.5 vs 3.0 на свежих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354787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Агент-исследователь (контур 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14216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114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Раз в месяц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114800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Проверка: Apache-релиз 3.0? BigQuery?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4" y="4114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Агент-исследователь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581144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6817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Inter"/>
              </a:rPr>
              <a:t>По событию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6624" y="4681728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Внеплановый прогноз под акцию/запуск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4" y="46817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По заявке директора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394959"/>
            <a:ext cx="11064240" cy="1024128"/>
          </a:xfrm>
          <a:prstGeom prst="roundRect">
            <a:avLst>
              <a:gd name="adj" fmla="val 8035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394959"/>
            <a:ext cx="45720" cy="102412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61441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Правило контура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60167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research_bench.py не встраивается в прод-пайплайн: отдельный вход, отдельный выход.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11 /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11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45720" cy="12984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939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Ближайшее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963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Прогноз на реальных данных мясопродуктов (календарь акций + праздники + цены)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706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Подключение 1С-выгрузки к формату history.csv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3756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37560"/>
            <a:ext cx="45720" cy="12984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557015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Средний горизонт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9593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BigQuery AI.FORECAST, когда 3.0 появится — облачный контур для масштаба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2336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Мультивариантный режим 3.0 в прод-пайплайне после Apache-релиза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0060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800600"/>
            <a:ext cx="45720" cy="12984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0200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Экосистема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4223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Связка с vector-work (роли) и vector-marketing (кампании)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696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Единый прогнозный слой для всех продуктов Osmosy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12 /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Prediction · Hermes Agent · Osmosy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7048" y="18288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38B2F8"/>
                </a:solidFill>
                <a:latin typeface="Inter Display"/>
              </a:rPr>
              <a:t>2 контура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971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2F7FD"/>
                </a:solidFill>
                <a:latin typeface="Inter"/>
              </a:rPr>
              <a:t>прод на Apache-2.0 и research — лицензионная чистота встроена в архитектуру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3977639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2F7FD"/>
                </a:solidFill>
                <a:latin typeface="Inter Display"/>
              </a:rPr>
              <a:t>Прогноз — инструмент. Решение — человек.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4800600"/>
            <a:ext cx="2743200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448" y="5166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38B2F8"/>
                </a:solidFill>
                <a:latin typeface="JetBrains Mono"/>
              </a:rPr>
              <a:t>github.com/Osmosy/vector-prediction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62636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FA3BC"/>
                </a:solidFill>
                <a:latin typeface="Inter"/>
              </a:rPr>
              <a:t>Контур A: Apache-2.0 (прод) · Контур B: non-commercial (research only) · гайды и лицензия — в репо</a:t>
            </a:r>
          </a:p>
        </p:txBody>
      </p:sp>
      <p:pic>
        <p:nvPicPr>
          <p:cNvPr id="10" name="Picture 9" descr="vector_ra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